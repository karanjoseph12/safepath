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8"/>
  </p:notesMasterIdLst>
  <p:sldIdLst>
    <p:sldId id="256" r:id="rId2"/>
    <p:sldId id="264" r:id="rId3"/>
    <p:sldId id="257" r:id="rId4"/>
    <p:sldId id="260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4" r:id="rId14"/>
    <p:sldId id="273" r:id="rId15"/>
    <p:sldId id="277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FFBC"/>
    <a:srgbClr val="D5F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54"/>
    <p:restoredTop sz="96041"/>
  </p:normalViewPr>
  <p:slideViewPr>
    <p:cSldViewPr snapToGrid="0">
      <p:cViewPr>
        <p:scale>
          <a:sx n="100" d="100"/>
          <a:sy n="100" d="100"/>
        </p:scale>
        <p:origin x="36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8AECF-AB9B-984C-80FC-3DAD0CFCFD1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BD3E9-B258-F54F-8AE2-57228438A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0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What are the key data resources you are using and how are you collecting, storing and accessing them?</a:t>
            </a:r>
          </a:p>
          <a:p>
            <a:r>
              <a:rPr lang="en-IE" b="1" dirty="0"/>
              <a:t>Crime data</a:t>
            </a:r>
            <a:r>
              <a:rPr lang="en-IE" dirty="0"/>
              <a:t> ingested from the </a:t>
            </a:r>
            <a:r>
              <a:rPr lang="en-IE" b="1" dirty="0"/>
              <a:t>UK Police Data API</a:t>
            </a:r>
            <a:r>
              <a:rPr lang="en-IE" dirty="0"/>
              <a:t> (street-level, geo-tagged incidents).</a:t>
            </a:r>
          </a:p>
          <a:p>
            <a:r>
              <a:rPr lang="en-IE" b="1" dirty="0"/>
              <a:t>Real-time hazards</a:t>
            </a:r>
            <a:r>
              <a:rPr lang="en-IE" dirty="0"/>
              <a:t> streamed via the </a:t>
            </a:r>
            <a:r>
              <a:rPr lang="en-IE" b="1" dirty="0"/>
              <a:t>TomTom API</a:t>
            </a:r>
            <a:r>
              <a:rPr lang="en-IE" dirty="0"/>
              <a:t> and visualised on the map.</a:t>
            </a:r>
          </a:p>
          <a:p>
            <a:r>
              <a:rPr lang="en-IE" b="1" dirty="0"/>
              <a:t>Lighting coverage &amp; base map geometry</a:t>
            </a:r>
            <a:r>
              <a:rPr lang="en-IE" dirty="0"/>
              <a:t> sourced from </a:t>
            </a:r>
            <a:r>
              <a:rPr lang="en-IE" b="1" dirty="0"/>
              <a:t>OpenStreetMap (OSM)</a:t>
            </a:r>
            <a:r>
              <a:rPr lang="en-IE" dirty="0"/>
              <a:t>.</a:t>
            </a:r>
          </a:p>
          <a:p>
            <a:r>
              <a:rPr lang="en-IE" b="1" dirty="0"/>
              <a:t>Community hazard reports</a:t>
            </a:r>
            <a:r>
              <a:rPr lang="en-IE" dirty="0"/>
              <a:t> captured directly in the </a:t>
            </a:r>
            <a:r>
              <a:rPr lang="en-IE" b="1" dirty="0" err="1"/>
              <a:t>SafePath</a:t>
            </a:r>
            <a:r>
              <a:rPr lang="en-IE" b="1" dirty="0"/>
              <a:t> app</a:t>
            </a:r>
            <a:r>
              <a:rPr lang="en-IE" dirty="0"/>
              <a:t> (photos + precise GPS locations).</a:t>
            </a:r>
          </a:p>
          <a:p>
            <a:r>
              <a:rPr lang="en-IE" b="1" dirty="0"/>
              <a:t>Python ETL pipeline</a:t>
            </a:r>
            <a:r>
              <a:rPr lang="en-IE" dirty="0"/>
              <a:t> cleans, enriches, and normalises crime, lighting, and hazard datasets.</a:t>
            </a:r>
          </a:p>
          <a:p>
            <a:r>
              <a:rPr lang="en-IE" b="1" dirty="0"/>
              <a:t>Node.js backend</a:t>
            </a:r>
            <a:r>
              <a:rPr lang="en-IE" dirty="0"/>
              <a:t> handles hazard uploads, safety-first route requests, and </a:t>
            </a:r>
            <a:r>
              <a:rPr lang="en-IE" b="1" dirty="0"/>
              <a:t>real-time updates</a:t>
            </a:r>
            <a:r>
              <a:rPr lang="en-IE" dirty="0"/>
              <a:t> (e.g. new reports).</a:t>
            </a:r>
          </a:p>
          <a:p>
            <a:r>
              <a:rPr lang="en-IE" b="1" dirty="0"/>
              <a:t>PostgreSQL + </a:t>
            </a:r>
            <a:r>
              <a:rPr lang="en-IE" b="1" dirty="0" err="1"/>
              <a:t>PostGIS</a:t>
            </a:r>
            <a:r>
              <a:rPr lang="en-IE" dirty="0"/>
              <a:t> power spatial queries and store high-volume geospatial data efficiently.</a:t>
            </a:r>
          </a:p>
          <a:p>
            <a:r>
              <a:rPr lang="en-IE" b="1" dirty="0" err="1"/>
              <a:t>Cloudinary</a:t>
            </a:r>
            <a:r>
              <a:rPr lang="en-IE" b="1" dirty="0"/>
              <a:t> CDN</a:t>
            </a:r>
            <a:r>
              <a:rPr lang="en-IE" dirty="0"/>
              <a:t> hosts hazard images and serves </a:t>
            </a:r>
            <a:r>
              <a:rPr lang="en-IE" b="1" dirty="0"/>
              <a:t>optimised media URLs</a:t>
            </a:r>
            <a:r>
              <a:rPr lang="en-IE" dirty="0"/>
              <a:t> to the client.</a:t>
            </a:r>
          </a:p>
          <a:p>
            <a:r>
              <a:rPr lang="en-IE" b="1" dirty="0" err="1"/>
              <a:t>SafePath</a:t>
            </a:r>
            <a:r>
              <a:rPr lang="en-IE" b="1" dirty="0"/>
              <a:t> web/mobile UI</a:t>
            </a:r>
            <a:r>
              <a:rPr lang="en-IE" dirty="0"/>
              <a:t> consumes safety-scored routes and </a:t>
            </a:r>
            <a:r>
              <a:rPr lang="en-IE" b="1" dirty="0"/>
              <a:t>live hazard alerts</a:t>
            </a:r>
            <a:r>
              <a:rPr lang="en-IE" dirty="0"/>
              <a:t> to guide users in real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BD3E9-B258-F54F-8AE2-57228438A4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81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BD3E9-B258-F54F-8AE2-57228438A4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76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b="1" dirty="0"/>
              <a:t>Key App Challenges</a:t>
            </a:r>
          </a:p>
          <a:p>
            <a:r>
              <a:rPr lang="en-IE" b="1" dirty="0"/>
              <a:t>UX for Safety Without Clutter</a:t>
            </a:r>
            <a:br>
              <a:rPr lang="en-IE" dirty="0"/>
            </a:br>
            <a:r>
              <a:rPr lang="en-IE" dirty="0"/>
              <a:t>Designing a map-first interface that surfaces crime heatmaps, lighting quality, hazards, and safest/fastest route comparisons </a:t>
            </a:r>
            <a:r>
              <a:rPr lang="en-IE" b="1" dirty="0"/>
              <a:t>without overwhelming users</a:t>
            </a:r>
            <a:r>
              <a:rPr lang="en-IE" dirty="0"/>
              <a:t>. The challenge is to keep core actions (“Go Safe”, “Report Hazard”, “FindBuddy”) obvious while hiding advanced safety details until needed. challenges</a:t>
            </a:r>
          </a:p>
          <a:p>
            <a:r>
              <a:rPr lang="en-IE" b="1" dirty="0"/>
              <a:t>Multi-Factor Safety Scoring</a:t>
            </a:r>
            <a:br>
              <a:rPr lang="en-IE" dirty="0"/>
            </a:br>
            <a:r>
              <a:rPr lang="en-IE" dirty="0"/>
              <a:t>Combining </a:t>
            </a:r>
            <a:r>
              <a:rPr lang="en-IE" b="1" dirty="0"/>
              <a:t>crime exposure, street lighting, collision risk, and live hazards</a:t>
            </a:r>
            <a:r>
              <a:rPr lang="en-IE" dirty="0"/>
              <a:t> into a single safety score per route segment. Each factor has a different scale, level of uncertainty, and spatial distribution, making normalization, weighting, and explanation of the score non-trivial. challenges</a:t>
            </a:r>
          </a:p>
          <a:p>
            <a:r>
              <a:rPr lang="en-IE" b="1" dirty="0"/>
              <a:t>Geospatial Performance at Scale</a:t>
            </a:r>
            <a:br>
              <a:rPr lang="en-IE" dirty="0"/>
            </a:br>
            <a:r>
              <a:rPr lang="en-IE" dirty="0"/>
              <a:t>Running corridor queries and safety calculations across many 100 m segments for multiple candidate routes, while keeping response times “app fast”. This includes tuning </a:t>
            </a:r>
            <a:r>
              <a:rPr lang="en-IE" dirty="0" err="1"/>
              <a:t>PostGIS</a:t>
            </a:r>
            <a:r>
              <a:rPr lang="en-IE" dirty="0"/>
              <a:t> indexes, avoiding heavy queries along the whole route, and preparing pre-computed structures (e.g. heatmaps) so that users don’t see loading spinners instead of routes. challenges</a:t>
            </a:r>
          </a:p>
          <a:p>
            <a:r>
              <a:rPr lang="en-IE" b="1" dirty="0"/>
              <a:t>Real-Time Hazards &amp; Buddy Features</a:t>
            </a:r>
            <a:br>
              <a:rPr lang="en-IE" dirty="0"/>
            </a:br>
            <a:r>
              <a:rPr lang="en-IE" dirty="0"/>
              <a:t>Making the map feel “live” with WebSocket-based hazard updates and buddy presence, </a:t>
            </a:r>
            <a:r>
              <a:rPr lang="en-IE" b="1" dirty="0"/>
              <a:t>without flooding</a:t>
            </a:r>
            <a:r>
              <a:rPr lang="en-IE" dirty="0"/>
              <a:t> the client or overloading the backend. The system has to decide which events to stream, how often to refresh, and how to gracefully handle users joining/leaving areas so the UI stays responsive. challenges</a:t>
            </a:r>
          </a:p>
          <a:p>
            <a:r>
              <a:rPr lang="en-IE" b="1" dirty="0"/>
              <a:t>GDPR &amp; Data Protection Compliance</a:t>
            </a:r>
            <a:br>
              <a:rPr lang="en-IE" dirty="0"/>
            </a:br>
            <a:r>
              <a:rPr lang="en-IE" dirty="0"/>
              <a:t>Handling sensitive data (location traces, crime context, user-reported hazards, and account details) under </a:t>
            </a:r>
            <a:r>
              <a:rPr lang="en-IE" b="1" dirty="0"/>
              <a:t>GDPR constraints</a:t>
            </a:r>
            <a:r>
              <a:rPr lang="en-IE" dirty="0"/>
              <a:t> is a core challenge. The app must respect data-minimisation, purpose limitation, retention limits, and user rights (access/erasure), while still storing enough history to compute meaningful safety scores and show past hazards on routes.</a:t>
            </a:r>
          </a:p>
          <a:p>
            <a:r>
              <a:rPr lang="en-IE" b="1" dirty="0"/>
              <a:t>Account Security &amp; Email Verification</a:t>
            </a:r>
            <a:br>
              <a:rPr lang="en-IE" dirty="0"/>
            </a:br>
            <a:r>
              <a:rPr lang="en-IE" dirty="0"/>
              <a:t>Implementing robust </a:t>
            </a:r>
            <a:r>
              <a:rPr lang="en-IE" b="1" dirty="0"/>
              <a:t>email verification</a:t>
            </a:r>
            <a:r>
              <a:rPr lang="en-IE" dirty="0"/>
              <a:t> to prevent fake or throwaway accounts, while keeping the sign-up flow simple. This includes generating secure, expiring verification tokens, handling edge cases (resend links, expired links, already-verified emails), and making sure unverified users cannot access safety-critical features such as hazard reporting or buddy matching.</a:t>
            </a:r>
          </a:p>
          <a:p>
            <a:r>
              <a:rPr lang="en-IE" b="1" dirty="0"/>
              <a:t>Deploying Externally Across Multiple Services</a:t>
            </a:r>
            <a:br>
              <a:rPr lang="en-IE" dirty="0"/>
            </a:br>
            <a:r>
              <a:rPr lang="en-IE" dirty="0"/>
              <a:t>Deploying a full stack (</a:t>
            </a:r>
            <a:r>
              <a:rPr lang="en-IE" dirty="0" err="1"/>
              <a:t>Next.js</a:t>
            </a:r>
            <a:r>
              <a:rPr lang="en-IE" dirty="0"/>
              <a:t> frontend, Node/Express backend, PostgreSQL/</a:t>
            </a:r>
            <a:r>
              <a:rPr lang="en-IE" dirty="0" err="1"/>
              <a:t>PostGIS</a:t>
            </a:r>
            <a:r>
              <a:rPr lang="en-IE" dirty="0"/>
              <a:t> on Neon, </a:t>
            </a:r>
            <a:r>
              <a:rPr lang="en-IE" dirty="0" err="1"/>
              <a:t>WebSockets</a:t>
            </a:r>
            <a:r>
              <a:rPr lang="en-IE" dirty="0"/>
              <a:t>, and </a:t>
            </a:r>
            <a:r>
              <a:rPr lang="en-IE" dirty="0" err="1"/>
              <a:t>Cloudinary</a:t>
            </a:r>
            <a:r>
              <a:rPr lang="en-IE" dirty="0"/>
              <a:t>) on </a:t>
            </a:r>
            <a:r>
              <a:rPr lang="en-IE" b="1" dirty="0"/>
              <a:t>external hosting platforms</a:t>
            </a:r>
            <a:r>
              <a:rPr lang="en-IE" dirty="0"/>
              <a:t> introduces challenges around CORS, environment variables, HTTPS/WebSocket configuration, and free-tier limitations (cold starts, ephemeral storage, connection limits). Keeping routing performance, real-time updates, and image delivery reliable in this distributed setup is an ongoing operational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BD3E9-B258-F54F-8AE2-57228438A4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7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9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4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60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0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0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6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19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3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70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E1AC4FA2-5362-D0D3-263A-CE1064072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52" r="-1" b="21638"/>
          <a:stretch>
            <a:fillRect/>
          </a:stretch>
        </p:blipFill>
        <p:spPr>
          <a:xfrm>
            <a:off x="20" y="10"/>
            <a:ext cx="7803224" cy="6857989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9663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7743A-27AE-2C89-47B1-4F5A779FD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659086" cy="3427867"/>
          </a:xfrm>
        </p:spPr>
        <p:txBody>
          <a:bodyPr anchor="t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SafePath</a:t>
            </a:r>
            <a:br>
              <a:rPr lang="en-US" sz="6000" dirty="0">
                <a:solidFill>
                  <a:srgbClr val="FFFFFF"/>
                </a:solidFill>
              </a:rPr>
            </a:b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F93E1-2A2C-6A38-C225-EECD36648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3051"/>
            <a:ext cx="4589685" cy="812923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300" i="1" dirty="0">
                <a:latin typeface="NOTEWORTHY LIGHT" panose="02000400000000000000" pitchFamily="2" charset="77"/>
                <a:ea typeface="NOTEWORTHY LIGHT" panose="02000400000000000000" pitchFamily="2" charset="77"/>
                <a:cs typeface="Brush Script MT" panose="03060802040406070304" pitchFamily="66" charset="-122"/>
              </a:rPr>
              <a:t>More than Navigation, Smarter, Safer Journeys</a:t>
            </a:r>
            <a:br>
              <a:rPr lang="en-US" sz="1300" i="1" dirty="0">
                <a:latin typeface="NOTEWORTHY LIGHT" panose="02000400000000000000" pitchFamily="2" charset="77"/>
                <a:ea typeface="NOTEWORTHY LIGHT" panose="02000400000000000000" pitchFamily="2" charset="77"/>
                <a:cs typeface="Brush Script MT" panose="03060802040406070304" pitchFamily="66" charset="-122"/>
              </a:rPr>
            </a:br>
            <a:endParaRPr lang="en-US" sz="13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F9188483-371A-A156-E639-3D287B65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26" r="40777"/>
          <a:stretch>
            <a:fillRect/>
          </a:stretch>
        </p:blipFill>
        <p:spPr>
          <a:xfrm>
            <a:off x="7803244" y="-1"/>
            <a:ext cx="4388756" cy="685799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760EBBF-DB46-C7AF-4D28-F038F826D47C}"/>
              </a:ext>
            </a:extLst>
          </p:cNvPr>
          <p:cNvSpPr txBox="1"/>
          <p:nvPr/>
        </p:nvSpPr>
        <p:spPr>
          <a:xfrm>
            <a:off x="9174319" y="1334956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5FC79"/>
                </a:solidFill>
              </a:rPr>
              <a:t>Mentors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A4D3E-5F0A-6182-40B9-9B51808AB530}"/>
              </a:ext>
            </a:extLst>
          </p:cNvPr>
          <p:cNvSpPr txBox="1"/>
          <p:nvPr/>
        </p:nvSpPr>
        <p:spPr>
          <a:xfrm>
            <a:off x="8255319" y="558821"/>
            <a:ext cx="3587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5FC79"/>
                </a:solidFill>
              </a:rPr>
              <a:t>Final Presentation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9FB2E5B4-FD18-7B8A-FD19-A9EADD4EE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737440"/>
              </p:ext>
            </p:extLst>
          </p:nvPr>
        </p:nvGraphicFramePr>
        <p:xfrm>
          <a:off x="8255319" y="4030823"/>
          <a:ext cx="3844212" cy="282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106">
                  <a:extLst>
                    <a:ext uri="{9D8B030D-6E8A-4147-A177-3AD203B41FA5}">
                      <a16:colId xmlns:a16="http://schemas.microsoft.com/office/drawing/2014/main" val="2129590132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1832072096"/>
                    </a:ext>
                  </a:extLst>
                </a:gridCol>
              </a:tblGrid>
              <a:tr h="56543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D24126339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24170"/>
                  </a:ext>
                </a:extLst>
              </a:tr>
              <a:tr h="56543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D24126048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543397"/>
                  </a:ext>
                </a:extLst>
              </a:tr>
              <a:tr h="56543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Shalini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D24127853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869515"/>
                  </a:ext>
                </a:extLst>
              </a:tr>
              <a:tr h="56543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Priyanka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D24125575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581370"/>
                  </a:ext>
                </a:extLst>
              </a:tr>
              <a:tr h="56543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D24125555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10111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8F0AEDD-5D2D-9B80-C318-DF95DB8D0901}"/>
              </a:ext>
            </a:extLst>
          </p:cNvPr>
          <p:cNvSpPr txBox="1"/>
          <p:nvPr/>
        </p:nvSpPr>
        <p:spPr>
          <a:xfrm>
            <a:off x="9302503" y="3337388"/>
            <a:ext cx="1646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5FC79"/>
                </a:solidFill>
              </a:rPr>
              <a:t>Group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D5FC79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E75F84-9655-C912-4B8F-9B1BADF87A37}"/>
              </a:ext>
            </a:extLst>
          </p:cNvPr>
          <p:cNvSpPr txBox="1"/>
          <p:nvPr/>
        </p:nvSpPr>
        <p:spPr>
          <a:xfrm>
            <a:off x="9068940" y="2111091"/>
            <a:ext cx="2113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none" strike="no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Andrea Curley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u="none" strike="no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Brendan Tierney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u="none" strike="noStrik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Damian Gordon</a:t>
            </a:r>
            <a:endParaRPr lang="en-I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8" descr="A screenshot of a map&#10;&#10;AI-generated content may be incorrect.">
            <a:extLst>
              <a:ext uri="{FF2B5EF4-FFF2-40B4-BE49-F238E27FC236}">
                <a16:creationId xmlns:a16="http://schemas.microsoft.com/office/drawing/2014/main" id="{BE40FFCC-828C-7A85-743C-79C650D46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167" y="1113957"/>
            <a:ext cx="1593670" cy="3166553"/>
          </a:xfrm>
          <a:prstGeom prst="roundRect">
            <a:avLst>
              <a:gd name="adj" fmla="val 16667"/>
            </a:avLst>
          </a:prstGeom>
          <a:ln w="66675">
            <a:solidFill>
              <a:schemeClr val="accent2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05951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96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46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96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46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96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46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6" grpId="0"/>
      <p:bldP spid="57" grpId="0"/>
      <p:bldP spid="65" grpId="0"/>
      <p:bldP spid="6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475A1DD9-1170-DB91-DB8C-98C0A80E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E7E1B6-D641-7FB3-D1FF-8013CA05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822960"/>
            <a:ext cx="7540965" cy="1097280"/>
          </a:xfrm>
        </p:spPr>
        <p:txBody>
          <a:bodyPr>
            <a:normAutofit fontScale="90000"/>
          </a:bodyPr>
          <a:lstStyle/>
          <a:p>
            <a:r>
              <a:rPr lang="en-IE" i="1" dirty="0">
                <a:solidFill>
                  <a:srgbClr val="17FFBC"/>
                </a:solidFill>
              </a:rPr>
              <a:t>Project Vision: </a:t>
            </a:r>
            <a:br>
              <a:rPr lang="en-IE" i="1" dirty="0">
                <a:solidFill>
                  <a:srgbClr val="17FFBC"/>
                </a:solidFill>
              </a:rPr>
            </a:br>
            <a:r>
              <a:rPr lang="en-IE" i="1" dirty="0">
                <a:solidFill>
                  <a:srgbClr val="17FFBC"/>
                </a:solidFill>
              </a:rPr>
              <a:t>Safer Routes, Not Just Faster Ones</a:t>
            </a:r>
            <a:br>
              <a:rPr lang="en-IE" i="1" dirty="0">
                <a:solidFill>
                  <a:srgbClr val="17FFBC"/>
                </a:solidFill>
              </a:rPr>
            </a:br>
            <a:endParaRPr lang="en-US" i="1" dirty="0"/>
          </a:p>
        </p:txBody>
      </p:sp>
      <p:pic>
        <p:nvPicPr>
          <p:cNvPr id="4" name="Picture 3" descr="A screenshot of a map&#10;&#10;AI-generated content may be incorrect.">
            <a:extLst>
              <a:ext uri="{FF2B5EF4-FFF2-40B4-BE49-F238E27FC236}">
                <a16:creationId xmlns:a16="http://schemas.microsoft.com/office/drawing/2014/main" id="{6769219F-5733-81DE-20EB-334AFF22C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943" y="226804"/>
            <a:ext cx="1849783" cy="3667394"/>
          </a:xfrm>
          <a:prstGeom prst="roundRect">
            <a:avLst>
              <a:gd name="adj" fmla="val 16667"/>
            </a:avLst>
          </a:prstGeom>
          <a:ln w="73025">
            <a:solidFill>
              <a:srgbClr val="C8C6BD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FCBF5-2116-59F2-1353-DC6394F82040}"/>
              </a:ext>
            </a:extLst>
          </p:cNvPr>
          <p:cNvSpPr txBox="1"/>
          <p:nvPr/>
        </p:nvSpPr>
        <p:spPr>
          <a:xfrm>
            <a:off x="650535" y="2403961"/>
            <a:ext cx="83665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b="1" dirty="0">
                <a:solidFill>
                  <a:srgbClr val="A88BFB"/>
                </a:solidFill>
              </a:rPr>
              <a:t>What we’re trying to do</a:t>
            </a:r>
            <a:endParaRPr lang="en-IE" sz="3600" dirty="0">
              <a:solidFill>
                <a:srgbClr val="A88BFB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E" sz="3200" dirty="0">
                <a:solidFill>
                  <a:schemeClr val="bg1"/>
                </a:solidFill>
              </a:rPr>
              <a:t>Help walkers and cyclists choose </a:t>
            </a:r>
            <a:r>
              <a:rPr lang="en-IE" sz="3200" i="1" dirty="0">
                <a:solidFill>
                  <a:schemeClr val="bg1"/>
                </a:solidFill>
              </a:rPr>
              <a:t>safer</a:t>
            </a:r>
            <a:r>
              <a:rPr lang="en-IE" sz="3200" dirty="0">
                <a:solidFill>
                  <a:schemeClr val="bg1"/>
                </a:solidFill>
              </a:rPr>
              <a:t> routes, not only the </a:t>
            </a:r>
            <a:r>
              <a:rPr lang="en-IE" sz="3200" i="1" dirty="0">
                <a:solidFill>
                  <a:schemeClr val="bg1"/>
                </a:solidFill>
              </a:rPr>
              <a:t>fastest</a:t>
            </a:r>
            <a:r>
              <a:rPr lang="en-IE" sz="3200" dirty="0">
                <a:solidFill>
                  <a:schemeClr val="bg1"/>
                </a:solidFill>
              </a:rPr>
              <a:t> ones.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3200" dirty="0">
                <a:solidFill>
                  <a:schemeClr val="bg1"/>
                </a:solidFill>
              </a:rPr>
              <a:t>Combine crime, lighting and hazard data into one safety-first navigation app.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3200" dirty="0">
                <a:solidFill>
                  <a:schemeClr val="bg1"/>
                </a:solidFill>
              </a:rPr>
              <a:t>Reduce fear and uncertainty when travelling, especially after dark.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7B61C5CD-15A1-99E9-8BA2-1A4C686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8817" y="2596948"/>
            <a:ext cx="1849783" cy="3667395"/>
          </a:xfrm>
          <a:prstGeom prst="roundRect">
            <a:avLst>
              <a:gd name="adj" fmla="val 16667"/>
            </a:avLst>
          </a:prstGeom>
          <a:ln w="73025">
            <a:solidFill>
              <a:srgbClr val="C8C6BD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6755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06C8A6D7-02D4-6E6A-7C55-07EAD3E14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11997F-DCF4-71F5-87C8-F745408438CF}"/>
              </a:ext>
            </a:extLst>
          </p:cNvPr>
          <p:cNvSpPr txBox="1"/>
          <p:nvPr/>
        </p:nvSpPr>
        <p:spPr>
          <a:xfrm>
            <a:off x="333132" y="1857050"/>
            <a:ext cx="57628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b="1" dirty="0">
                <a:solidFill>
                  <a:srgbClr val="A88BFB"/>
                </a:solidFill>
              </a:rPr>
              <a:t>Who We Serve</a:t>
            </a:r>
            <a:endParaRPr lang="en-IE" sz="32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E" sz="2400" dirty="0">
                <a:solidFill>
                  <a:schemeClr val="bg1"/>
                </a:solidFill>
              </a:rPr>
              <a:t>School and university students walking or cycling home, especially after dark.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E" sz="2400" dirty="0">
                <a:solidFill>
                  <a:schemeClr val="bg1"/>
                </a:solidFill>
              </a:rPr>
              <a:t>Everyday walkers and cyclists (commuters, families, night-shift workers).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E" sz="2400" dirty="0">
                <a:solidFill>
                  <a:schemeClr val="bg1"/>
                </a:solidFill>
              </a:rPr>
              <a:t>Vulnerable users: new residents, older adults, people with reduced mobility.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E" sz="2400" dirty="0">
                <a:solidFill>
                  <a:schemeClr val="bg1"/>
                </a:solidFill>
              </a:rPr>
              <a:t>Delivery riders who spend hours on the street.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ea typeface="Spline Sans Bold" pitchFamily="34" charset="-122"/>
                <a:cs typeface="Spline Sans Bold" pitchFamily="34" charset="-120"/>
              </a:rPr>
              <a:t>City Planners &amp; Safety Decision Makers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EE6CE-26E7-F229-CA8E-43648621436F}"/>
              </a:ext>
            </a:extLst>
          </p:cNvPr>
          <p:cNvSpPr txBox="1"/>
          <p:nvPr/>
        </p:nvSpPr>
        <p:spPr>
          <a:xfrm>
            <a:off x="6096000" y="1857050"/>
            <a:ext cx="576286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b="1" dirty="0">
                <a:solidFill>
                  <a:srgbClr val="A88BFB"/>
                </a:solidFill>
              </a:rPr>
              <a:t>Why They Need it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600" dirty="0">
                <a:solidFill>
                  <a:schemeClr val="bg1"/>
                </a:solidFill>
              </a:rPr>
              <a:t>Existing apps optimise for time, not personal safety.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600" dirty="0">
                <a:solidFill>
                  <a:schemeClr val="bg1"/>
                </a:solidFill>
              </a:rPr>
              <a:t>Hard to see crime hotspots, dark streets, or recent hazards on a normal map.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600" dirty="0">
                <a:solidFill>
                  <a:schemeClr val="bg1"/>
                </a:solidFill>
              </a:rPr>
              <a:t>Many users feel unsafe travelling alone at night or in unfamiliar areas.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600" dirty="0">
                <a:solidFill>
                  <a:schemeClr val="bg1"/>
                </a:solidFill>
              </a:rPr>
              <a:t>Our survey shows users are willing to add minutes to the trip for a route that feels safer.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F07DD1-0ED0-B582-EDA3-36539524EB24}"/>
              </a:ext>
            </a:extLst>
          </p:cNvPr>
          <p:cNvGrpSpPr/>
          <p:nvPr/>
        </p:nvGrpSpPr>
        <p:grpSpPr>
          <a:xfrm>
            <a:off x="8790763" y="759770"/>
            <a:ext cx="2045404" cy="1097280"/>
            <a:chOff x="3172123" y="4093606"/>
            <a:chExt cx="1402080" cy="7222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9D2286A-D455-DF65-30BB-5E281597F51C}"/>
                </a:ext>
              </a:extLst>
            </p:cNvPr>
            <p:cNvGrpSpPr/>
            <p:nvPr/>
          </p:nvGrpSpPr>
          <p:grpSpPr>
            <a:xfrm>
              <a:off x="3172123" y="4093606"/>
              <a:ext cx="701040" cy="701040"/>
              <a:chOff x="3405842" y="3466386"/>
              <a:chExt cx="701040" cy="701040"/>
            </a:xfrm>
          </p:grpSpPr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9B1860FF-8E22-B4BD-7844-932E898F4F75}"/>
                  </a:ext>
                </a:extLst>
              </p:cNvPr>
              <p:cNvSpPr/>
              <p:nvPr/>
            </p:nvSpPr>
            <p:spPr>
              <a:xfrm>
                <a:off x="3405842" y="3466386"/>
                <a:ext cx="701040" cy="701040"/>
              </a:xfrm>
              <a:prstGeom prst="roundRect">
                <a:avLst>
                  <a:gd name="adj" fmla="val 13042174"/>
                </a:avLst>
              </a:prstGeom>
              <a:solidFill>
                <a:srgbClr val="36A7E7"/>
              </a:solidFill>
              <a:ln/>
            </p:spPr>
            <p:txBody>
              <a:bodyPr/>
              <a:lstStyle/>
              <a:p>
                <a:endParaRPr lang="en-US" sz="1400" dirty="0"/>
              </a:p>
            </p:txBody>
          </p:sp>
          <p:pic>
            <p:nvPicPr>
              <p:cNvPr id="20" name="Graphic 19" descr="Cycling outline">
                <a:extLst>
                  <a:ext uri="{FF2B5EF4-FFF2-40B4-BE49-F238E27FC236}">
                    <a16:creationId xmlns:a16="http://schemas.microsoft.com/office/drawing/2014/main" id="{98CD6F96-6270-3DC4-46D7-273485CD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77875" y="3500200"/>
                <a:ext cx="556974" cy="556974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F0BDB64-D56A-1B41-DE7D-C8CECFC07D7F}"/>
                </a:ext>
              </a:extLst>
            </p:cNvPr>
            <p:cNvGrpSpPr/>
            <p:nvPr/>
          </p:nvGrpSpPr>
          <p:grpSpPr>
            <a:xfrm>
              <a:off x="3873163" y="4114800"/>
              <a:ext cx="701040" cy="701040"/>
              <a:chOff x="5825460" y="489287"/>
              <a:chExt cx="701040" cy="701040"/>
            </a:xfrm>
          </p:grpSpPr>
          <p:sp>
            <p:nvSpPr>
              <p:cNvPr id="17" name="Shape 7">
                <a:extLst>
                  <a:ext uri="{FF2B5EF4-FFF2-40B4-BE49-F238E27FC236}">
                    <a16:creationId xmlns:a16="http://schemas.microsoft.com/office/drawing/2014/main" id="{AC0904B7-81DA-E5DF-015B-6E6F4289BE02}"/>
                  </a:ext>
                </a:extLst>
              </p:cNvPr>
              <p:cNvSpPr/>
              <p:nvPr/>
            </p:nvSpPr>
            <p:spPr>
              <a:xfrm>
                <a:off x="5825460" y="489287"/>
                <a:ext cx="701040" cy="701040"/>
              </a:xfrm>
              <a:prstGeom prst="roundRect">
                <a:avLst>
                  <a:gd name="adj" fmla="val 13042174"/>
                </a:avLst>
              </a:prstGeom>
              <a:solidFill>
                <a:srgbClr val="29DDDA"/>
              </a:solidFill>
              <a:ln/>
            </p:spPr>
            <p:txBody>
              <a:bodyPr/>
              <a:lstStyle/>
              <a:p>
                <a:endParaRPr lang="en-US" sz="1400" dirty="0"/>
              </a:p>
            </p:txBody>
          </p:sp>
          <p:pic>
            <p:nvPicPr>
              <p:cNvPr id="18" name="Graphic 17" descr="Walk outline">
                <a:extLst>
                  <a:ext uri="{FF2B5EF4-FFF2-40B4-BE49-F238E27FC236}">
                    <a16:creationId xmlns:a16="http://schemas.microsoft.com/office/drawing/2014/main" id="{E6E751C4-6231-88D9-BC82-A2E16DBC3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862905" y="526732"/>
                <a:ext cx="626150" cy="626150"/>
              </a:xfrm>
              <a:prstGeom prst="rect">
                <a:avLst/>
              </a:prstGeom>
            </p:spPr>
          </p:pic>
        </p:grp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41C6E5C-F48E-C41B-1F85-22C011E6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91" y="418140"/>
            <a:ext cx="7540965" cy="1097280"/>
          </a:xfrm>
        </p:spPr>
        <p:txBody>
          <a:bodyPr>
            <a:normAutofit fontScale="90000"/>
          </a:bodyPr>
          <a:lstStyle/>
          <a:p>
            <a:r>
              <a:rPr lang="en-IE" i="1" dirty="0">
                <a:solidFill>
                  <a:srgbClr val="17FFBC"/>
                </a:solidFill>
              </a:rPr>
              <a:t>Project Vision: </a:t>
            </a:r>
            <a:br>
              <a:rPr lang="en-IE" i="1" dirty="0">
                <a:solidFill>
                  <a:srgbClr val="17FFBC"/>
                </a:solidFill>
              </a:rPr>
            </a:br>
            <a:r>
              <a:rPr lang="en-IE" i="1" dirty="0">
                <a:solidFill>
                  <a:srgbClr val="17FFBC"/>
                </a:solidFill>
              </a:rPr>
              <a:t>Safer Routes, Not Just Faster Ones</a:t>
            </a:r>
            <a:br>
              <a:rPr lang="en-IE" i="1" dirty="0">
                <a:solidFill>
                  <a:srgbClr val="17FFBC"/>
                </a:solidFill>
              </a:rPr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5370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EF70-5FC6-8941-F823-9A402268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ECD609C0-397A-A9DC-CA21-E7390BC14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1B348F-5B0F-57B6-A70F-8A58D145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39" y="424088"/>
            <a:ext cx="9507471" cy="1097280"/>
          </a:xfrm>
        </p:spPr>
        <p:txBody>
          <a:bodyPr>
            <a:normAutofit fontScale="90000"/>
          </a:bodyPr>
          <a:lstStyle/>
          <a:p>
            <a:r>
              <a:rPr lang="en-IE" i="1" dirty="0">
                <a:solidFill>
                  <a:srgbClr val="17FFBC"/>
                </a:solidFill>
              </a:rPr>
              <a:t>Scenario – Avoiding User Reported Hazards</a:t>
            </a:r>
            <a:br>
              <a:rPr lang="en-IE" i="1" dirty="0">
                <a:solidFill>
                  <a:srgbClr val="17FFBC"/>
                </a:solidFill>
              </a:rPr>
            </a:br>
            <a:endParaRPr lang="en-US" i="1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B4C589A-DF37-BE8A-DACA-CB9DD7E7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922" y="1521368"/>
            <a:ext cx="6367923" cy="4702009"/>
          </a:xfrm>
          <a:prstGeom prst="rect">
            <a:avLst/>
          </a:prstGeom>
          <a:noFill/>
          <a:ln w="41275">
            <a:solidFill>
              <a:srgbClr val="17FFBC"/>
            </a:solidFill>
            <a:rou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084E9D-D1C3-902C-C982-496F340467E9}"/>
              </a:ext>
            </a:extLst>
          </p:cNvPr>
          <p:cNvSpPr txBox="1"/>
          <p:nvPr/>
        </p:nvSpPr>
        <p:spPr>
          <a:xfrm>
            <a:off x="409039" y="1265801"/>
            <a:ext cx="511788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600" b="1" dirty="0">
                <a:solidFill>
                  <a:srgbClr val="17FFBC"/>
                </a:solidFill>
                <a:ea typeface="Barlow" pitchFamily="34" charset="-122"/>
                <a:cs typeface="Barlow" pitchFamily="34" charset="-120"/>
              </a:rPr>
              <a:t>Scenario:</a:t>
            </a:r>
            <a:r>
              <a:rPr lang="en-US" sz="2600" b="1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 Student walking home at night in an unfamiliar area.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600" b="1" dirty="0">
                <a:solidFill>
                  <a:srgbClr val="17FFBC"/>
                </a:solidFill>
                <a:ea typeface="Barlow" pitchFamily="34" charset="-122"/>
                <a:cs typeface="Barlow" pitchFamily="34" charset="-120"/>
              </a:rPr>
              <a:t>Problem:</a:t>
            </a:r>
            <a:r>
              <a:rPr lang="en-US" sz="2600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Normal maps send them through streets with recent hazard reports.</a:t>
            </a:r>
            <a:endParaRPr lang="en-US" sz="26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600" b="1" dirty="0">
                <a:solidFill>
                  <a:srgbClr val="17FFBC"/>
                </a:solidFill>
                <a:ea typeface="Barlow" pitchFamily="34" charset="-122"/>
                <a:cs typeface="Barlow" pitchFamily="34" charset="-120"/>
              </a:rPr>
              <a:t>SafePath:</a:t>
            </a:r>
            <a:r>
              <a:rPr lang="en-US" sz="2600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Shows a safer alternative route that avoids user-reported hazards, even if it takes a few extra minutes.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600" b="1" dirty="0">
                <a:solidFill>
                  <a:srgbClr val="17FFBC"/>
                </a:solidFill>
                <a:ea typeface="Barlow" pitchFamily="34" charset="-122"/>
                <a:cs typeface="Barlow" pitchFamily="34" charset="-120"/>
              </a:rPr>
              <a:t>Result:</a:t>
            </a:r>
            <a:r>
              <a:rPr lang="en-US" sz="2600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User feels more confident choosing the safer route.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4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78F3-5B37-638C-2923-E9D8B431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B4D65422-745C-A803-888E-6C7C29E6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306681-2628-E195-CE75-310F27F0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9E1C1A-BC64-BA24-A863-997D91D367F3}"/>
              </a:ext>
            </a:extLst>
          </p:cNvPr>
          <p:cNvSpPr txBox="1"/>
          <p:nvPr/>
        </p:nvSpPr>
        <p:spPr>
          <a:xfrm>
            <a:off x="488731" y="567559"/>
            <a:ext cx="31058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Technology </a:t>
            </a:r>
            <a:br>
              <a:rPr lang="en-US" sz="4400" b="1" dirty="0">
                <a:solidFill>
                  <a:srgbClr val="002060"/>
                </a:solidFill>
              </a:rPr>
            </a:br>
            <a:r>
              <a:rPr lang="en-US" sz="4400" b="1" dirty="0">
                <a:solidFill>
                  <a:srgbClr val="002060"/>
                </a:solidFill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7430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4E40-9EB4-61FA-8661-76C6F572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7993FBCB-1E5B-2A46-59E6-0F9E16D00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2" name="Picture 1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90581CAF-F5B5-DB44-56C0-63A34D655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210306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023632-2E2B-8CB8-03F4-5A3A3A3A6BC1}"/>
              </a:ext>
            </a:extLst>
          </p:cNvPr>
          <p:cNvSpPr txBox="1"/>
          <p:nvPr/>
        </p:nvSpPr>
        <p:spPr>
          <a:xfrm>
            <a:off x="479194" y="384346"/>
            <a:ext cx="304124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Data Stack</a:t>
            </a:r>
            <a:br>
              <a:rPr lang="en-US" sz="4000" b="1" dirty="0">
                <a:solidFill>
                  <a:srgbClr val="002060"/>
                </a:solidFill>
              </a:rPr>
            </a:br>
            <a:endParaRPr lang="en-US" sz="40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63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1852D48E-DB0C-B52B-8AA0-A97A7B280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5" name="Picture 4" descr="A diagram of a route&#10;&#10;AI-generated content may be incorrect.">
            <a:extLst>
              <a:ext uri="{FF2B5EF4-FFF2-40B4-BE49-F238E27FC236}">
                <a16:creationId xmlns:a16="http://schemas.microsoft.com/office/drawing/2014/main" id="{134B8E44-2B88-538A-B127-9C86403A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9523" cy="6857989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1DB99A2-05F8-C25F-E901-952002FBD089}"/>
              </a:ext>
            </a:extLst>
          </p:cNvPr>
          <p:cNvSpPr/>
          <p:nvPr/>
        </p:nvSpPr>
        <p:spPr>
          <a:xfrm>
            <a:off x="8030737" y="518966"/>
            <a:ext cx="359638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2060"/>
                </a:solidFill>
                <a:latin typeface="+mj-lt"/>
                <a:ea typeface="Spline Sans Bold" pitchFamily="34" charset="-122"/>
                <a:cs typeface="Spline Sans Bold" pitchFamily="34" charset="-120"/>
              </a:rPr>
              <a:t>Routing Engine</a:t>
            </a:r>
            <a:endParaRPr lang="en-US" sz="43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7069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3E9D4891-DC2C-FE57-2533-F4D4CF558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5" name="Picture 4" descr="A diagram of a software&#10;&#10;AI-generated content may be incorrect.">
            <a:extLst>
              <a:ext uri="{FF2B5EF4-FFF2-40B4-BE49-F238E27FC236}">
                <a16:creationId xmlns:a16="http://schemas.microsoft.com/office/drawing/2014/main" id="{BB98024D-4877-11B2-8A6A-DA7D2AF2F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4770" cy="6857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D40D21-B364-E826-D31C-62C534182B4A}"/>
              </a:ext>
            </a:extLst>
          </p:cNvPr>
          <p:cNvSpPr txBox="1"/>
          <p:nvPr/>
        </p:nvSpPr>
        <p:spPr>
          <a:xfrm>
            <a:off x="9860572" y="298400"/>
            <a:ext cx="18389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172D85"/>
                </a:solidFill>
                <a:latin typeface="+mj-lt"/>
              </a:rPr>
              <a:t>Report</a:t>
            </a:r>
            <a:br>
              <a:rPr lang="en-US" sz="4000" b="1" dirty="0">
                <a:solidFill>
                  <a:srgbClr val="172D85"/>
                </a:solidFill>
                <a:latin typeface="+mj-lt"/>
              </a:rPr>
            </a:br>
            <a:r>
              <a:rPr lang="en-US" sz="4000" b="1" dirty="0">
                <a:solidFill>
                  <a:srgbClr val="172D85"/>
                </a:solidFill>
                <a:latin typeface="+mj-lt"/>
              </a:rPr>
              <a:t>Hazard</a:t>
            </a:r>
          </a:p>
        </p:txBody>
      </p:sp>
    </p:spTree>
    <p:extLst>
      <p:ext uri="{BB962C8B-B14F-4D97-AF65-F5344CB8AC3E}">
        <p14:creationId xmlns:p14="http://schemas.microsoft.com/office/powerpoint/2010/main" val="1667311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6E89-5D48-BA98-8E4C-0F4884C1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4098E8F1-635D-FE95-E19A-3F519781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AE8A0603-2304-7883-287D-B42F40142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"/>
            <a:ext cx="12191999" cy="6857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21E5A-AF4D-15B4-0A0C-A712C7B601A8}"/>
              </a:ext>
            </a:extLst>
          </p:cNvPr>
          <p:cNvSpPr txBox="1"/>
          <p:nvPr/>
        </p:nvSpPr>
        <p:spPr>
          <a:xfrm>
            <a:off x="8946172" y="412700"/>
            <a:ext cx="26164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172D85"/>
                </a:solidFill>
                <a:latin typeface="+mj-lt"/>
              </a:rPr>
              <a:t>FindBuddy</a:t>
            </a:r>
          </a:p>
        </p:txBody>
      </p:sp>
    </p:spTree>
    <p:extLst>
      <p:ext uri="{BB962C8B-B14F-4D97-AF65-F5344CB8AC3E}">
        <p14:creationId xmlns:p14="http://schemas.microsoft.com/office/powerpoint/2010/main" val="84774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FE71B-609F-F24A-C37F-254D9BFB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any's safety status&#10;&#10;AI-generated content may be incorrect.">
            <a:extLst>
              <a:ext uri="{FF2B5EF4-FFF2-40B4-BE49-F238E27FC236}">
                <a16:creationId xmlns:a16="http://schemas.microsoft.com/office/drawing/2014/main" id="{D91181B7-566C-7678-3559-1C6D9C22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69" r="1" b="7192"/>
          <a:stretch>
            <a:fillRect/>
          </a:stretch>
        </p:blipFill>
        <p:spPr>
          <a:xfrm>
            <a:off x="642209" y="661670"/>
            <a:ext cx="10905066" cy="5590432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F39946-6C27-40AB-A613-7930E921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09" y="6196329"/>
            <a:ext cx="1090632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2E9E71-FC36-54B2-89B7-B2A23E3AD508}"/>
              </a:ext>
            </a:extLst>
          </p:cNvPr>
          <p:cNvSpPr txBox="1"/>
          <p:nvPr/>
        </p:nvSpPr>
        <p:spPr>
          <a:xfrm>
            <a:off x="8931075" y="395501"/>
            <a:ext cx="2939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Project Key</a:t>
            </a:r>
          </a:p>
          <a:p>
            <a:r>
              <a:rPr lang="en-US" sz="4000" b="1" dirty="0">
                <a:solidFill>
                  <a:srgbClr val="002060"/>
                </a:solidFill>
              </a:rPr>
              <a:t>Challenges </a:t>
            </a:r>
          </a:p>
        </p:txBody>
      </p:sp>
    </p:spTree>
    <p:extLst>
      <p:ext uri="{BB962C8B-B14F-4D97-AF65-F5344CB8AC3E}">
        <p14:creationId xmlns:p14="http://schemas.microsoft.com/office/powerpoint/2010/main" val="358011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22FC-436F-5B4A-21AF-E279D1CA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7CB6D8BB-F519-F455-2AB4-4E33584C5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3CE3F20-D508-F2BE-50B4-B732BC1AFCA6}"/>
              </a:ext>
            </a:extLst>
          </p:cNvPr>
          <p:cNvSpPr txBox="1">
            <a:spLocks/>
          </p:cNvSpPr>
          <p:nvPr/>
        </p:nvSpPr>
        <p:spPr>
          <a:xfrm>
            <a:off x="409039" y="424088"/>
            <a:ext cx="7068207" cy="8171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i="1" dirty="0">
                <a:solidFill>
                  <a:srgbClr val="17FFBC"/>
                </a:solidFill>
              </a:rPr>
              <a:t>User Evaluation Process</a:t>
            </a:r>
            <a:endParaRPr lang="en-US" i="1" dirty="0"/>
          </a:p>
        </p:txBody>
      </p:sp>
      <p:pic>
        <p:nvPicPr>
          <p:cNvPr id="1026" name="Picture 2" descr="A diagram of a user evaluation process&#10;&#10;AI-generated content may be incorrect.">
            <a:extLst>
              <a:ext uri="{FF2B5EF4-FFF2-40B4-BE49-F238E27FC236}">
                <a16:creationId xmlns:a16="http://schemas.microsoft.com/office/drawing/2014/main" id="{3FCE42C4-EB1D-B424-B219-CB0188FC7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433856"/>
            <a:ext cx="11518900" cy="523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05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E58D8152-2017-8EDA-4CE4-C1D3B32D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374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AD726-EA2B-405E-667B-FF725FD3A527}"/>
              </a:ext>
            </a:extLst>
          </p:cNvPr>
          <p:cNvSpPr txBox="1"/>
          <p:nvPr/>
        </p:nvSpPr>
        <p:spPr>
          <a:xfrm>
            <a:off x="221916" y="1449858"/>
            <a:ext cx="6260447" cy="6820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2400" b="1" spc="300" dirty="0">
                <a:solidFill>
                  <a:schemeClr val="bg1"/>
                </a:solidFill>
              </a:rPr>
              <a:t>SafePath User Feedback – (N = 15)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E42157-06C0-0B99-0C62-B072B50EC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75325"/>
            <a:ext cx="5132089" cy="2001514"/>
          </a:xfrm>
          <a:prstGeom prst="rect">
            <a:avLst/>
          </a:prstGeom>
          <a:noFill/>
        </p:spPr>
      </p:pic>
      <p:pic>
        <p:nvPicPr>
          <p:cNvPr id="4" name="Picture 3" descr="A graph with text on it&#10;&#10;AI-generated content may be incorrect.">
            <a:extLst>
              <a:ext uri="{FF2B5EF4-FFF2-40B4-BE49-F238E27FC236}">
                <a16:creationId xmlns:a16="http://schemas.microsoft.com/office/drawing/2014/main" id="{04F13512-5FBE-18A0-D248-EE90B30B5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681" y="1295004"/>
            <a:ext cx="5460626" cy="443675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ECD212-DE43-B34C-82FF-7B0D12182ADF}"/>
              </a:ext>
            </a:extLst>
          </p:cNvPr>
          <p:cNvSpPr txBox="1"/>
          <p:nvPr/>
        </p:nvSpPr>
        <p:spPr>
          <a:xfrm>
            <a:off x="221916" y="612145"/>
            <a:ext cx="5902876" cy="6820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17FFBC"/>
                </a:solidFill>
                <a:latin typeface="+mj-lt"/>
                <a:ea typeface="+mj-ea"/>
                <a:cs typeface="+mj-cs"/>
              </a:rPr>
              <a:t>Evaluation Findings</a:t>
            </a:r>
          </a:p>
        </p:txBody>
      </p:sp>
    </p:spTree>
    <p:extLst>
      <p:ext uri="{BB962C8B-B14F-4D97-AF65-F5344CB8AC3E}">
        <p14:creationId xmlns:p14="http://schemas.microsoft.com/office/powerpoint/2010/main" val="127020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5B2B-F6FA-4819-4FC3-E6DA9232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79D0B079-0748-FACA-5982-8551687B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112542" y="12"/>
            <a:ext cx="12192000" cy="68579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823F87C-28FE-E3CE-BB02-1E0379F16C57}"/>
              </a:ext>
            </a:extLst>
          </p:cNvPr>
          <p:cNvSpPr txBox="1">
            <a:spLocks/>
          </p:cNvSpPr>
          <p:nvPr/>
        </p:nvSpPr>
        <p:spPr>
          <a:xfrm>
            <a:off x="409039" y="119782"/>
            <a:ext cx="3842921" cy="7294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>
                <a:solidFill>
                  <a:srgbClr val="17FFBC"/>
                </a:solidFill>
              </a:rPr>
              <a:t>System Review</a:t>
            </a:r>
            <a:endParaRPr lang="en-US" i="1" dirty="0">
              <a:solidFill>
                <a:srgbClr val="17FFBC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9F70A9-CB02-EE1D-FDB4-36AB9F2AD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76692"/>
              </p:ext>
            </p:extLst>
          </p:nvPr>
        </p:nvGraphicFramePr>
        <p:xfrm>
          <a:off x="409038" y="898071"/>
          <a:ext cx="11543475" cy="5993385"/>
        </p:xfrm>
        <a:graphic>
          <a:graphicData uri="http://schemas.openxmlformats.org/drawingml/2006/table">
            <a:tbl>
              <a:tblPr bandRow="1">
                <a:tableStyleId>{72833802-FEF1-4C79-8D5D-14CF1EAF98D9}</a:tableStyleId>
              </a:tblPr>
              <a:tblGrid>
                <a:gridCol w="5871569">
                  <a:extLst>
                    <a:ext uri="{9D8B030D-6E8A-4147-A177-3AD203B41FA5}">
                      <a16:colId xmlns:a16="http://schemas.microsoft.com/office/drawing/2014/main" val="1128312447"/>
                    </a:ext>
                  </a:extLst>
                </a:gridCol>
                <a:gridCol w="5671906">
                  <a:extLst>
                    <a:ext uri="{9D8B030D-6E8A-4147-A177-3AD203B41FA5}">
                      <a16:colId xmlns:a16="http://schemas.microsoft.com/office/drawing/2014/main" val="1421434421"/>
                    </a:ext>
                  </a:extLst>
                </a:gridCol>
              </a:tblGrid>
              <a:tr h="503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 dirty="0">
                          <a:solidFill>
                            <a:schemeClr val="bg1"/>
                          </a:solidFill>
                        </a:rPr>
                        <a:t>What We Solved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</a:rPr>
                        <a:t>What We Improved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097360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No safety-aware routes, only fastest time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Safety-scored routing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00827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No real-time hazards reporting by community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Live hazard layer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913192"/>
                  </a:ext>
                </a:extLst>
              </a:tr>
              <a:tr h="537465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No visibility of dark / high-crime streets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Crime hotspots &amp; lighting layers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417744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Feeling unsafe travelling alone, especially at night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FindBuddy, group journeys, nearby buddies, live location sharing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060417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Safety data scattered across many systems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Unified data: TomTom, OSM, UK Police, lighting, traffic hazards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429563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Clumsy, generic UX for walkers/cyclists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Mobile-first UX, dark mode, real-time updates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65841"/>
                  </a:ext>
                </a:extLst>
              </a:tr>
              <a:tr h="7998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Low trust in apps (privacy, reliability, access)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Secure auth (JWT, email verify), </a:t>
                      </a:r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047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1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C25A-4F9E-F31E-9BA3-F088D023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58D4886D-D0EE-A0DE-FE14-4D6C7B25F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98475" y="0"/>
            <a:ext cx="12192000" cy="68579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B16DCB-5275-4013-DD4E-B0E74985D141}"/>
              </a:ext>
            </a:extLst>
          </p:cNvPr>
          <p:cNvSpPr txBox="1"/>
          <p:nvPr/>
        </p:nvSpPr>
        <p:spPr>
          <a:xfrm>
            <a:off x="658091" y="311727"/>
            <a:ext cx="44307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16FFBB"/>
                </a:solidFill>
                <a:cs typeface="Segoe UI"/>
              </a:rPr>
              <a:t>Future Work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43C50-D4B4-020D-1224-6DFFECEBD3FB}"/>
              </a:ext>
            </a:extLst>
          </p:cNvPr>
          <p:cNvSpPr txBox="1"/>
          <p:nvPr/>
        </p:nvSpPr>
        <p:spPr>
          <a:xfrm>
            <a:off x="1071197" y="1142724"/>
            <a:ext cx="7636704" cy="556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 AI-powered hazard prediction based on historical patterns 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Voice navigation for hands-free operation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 Offline mode for areas with poor connectivity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Wearable device integration for cyclists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Emergency contact alerts when traveling alone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Route history for tracking safe paths 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Community safety ratings for neighborhoods 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Integration with local authorities for faster hazard resolution</a:t>
            </a:r>
            <a:endParaRPr lang="en-US" sz="2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 descr="A person riding a bike on a road&#10;&#10;AI-generated content may be incorrect.">
            <a:extLst>
              <a:ext uri="{FF2B5EF4-FFF2-40B4-BE49-F238E27FC236}">
                <a16:creationId xmlns:a16="http://schemas.microsoft.com/office/drawing/2014/main" id="{1CBEAAE6-345B-EA43-627D-17AFECD17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41"/>
          <a:stretch>
            <a:fillRect/>
          </a:stretch>
        </p:blipFill>
        <p:spPr>
          <a:xfrm>
            <a:off x="8899575" y="0"/>
            <a:ext cx="33909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2EFE-6A37-DBE3-342C-A999DF41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AE289CDD-51D8-B674-345B-2AEA7E81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0" y="12"/>
            <a:ext cx="12192000" cy="68579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D271A2B-5EA0-9153-90E7-ECCAFE033B4D}"/>
              </a:ext>
            </a:extLst>
          </p:cNvPr>
          <p:cNvSpPr txBox="1">
            <a:spLocks/>
          </p:cNvSpPr>
          <p:nvPr/>
        </p:nvSpPr>
        <p:spPr>
          <a:xfrm>
            <a:off x="409039" y="424088"/>
            <a:ext cx="3842921" cy="7294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6FFBB"/>
                </a:solidFill>
                <a:ea typeface="Calibri"/>
                <a:cs typeface="Segoe UI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5138C2-1B54-6252-EB74-3A535873D8F2}"/>
              </a:ext>
            </a:extLst>
          </p:cNvPr>
          <p:cNvSpPr/>
          <p:nvPr/>
        </p:nvSpPr>
        <p:spPr>
          <a:xfrm>
            <a:off x="4819670" y="1577626"/>
            <a:ext cx="2664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ea typeface="Calibri"/>
                <a:cs typeface="Calibri"/>
              </a:rPr>
              <a:t>What we learnt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86160A-A375-B325-7FC0-230E9C9A268B}"/>
              </a:ext>
            </a:extLst>
          </p:cNvPr>
          <p:cNvSpPr/>
          <p:nvPr/>
        </p:nvSpPr>
        <p:spPr>
          <a:xfrm>
            <a:off x="8625391" y="1577626"/>
            <a:ext cx="2664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 dirty="0">
                <a:ea typeface="Calibri"/>
                <a:cs typeface="Calibri"/>
              </a:rPr>
              <a:t>What we would </a:t>
            </a:r>
          </a:p>
          <a:p>
            <a:pPr algn="ctr"/>
            <a:r>
              <a:rPr lang="en-GB" sz="2400" b="1" dirty="0">
                <a:ea typeface="Calibri"/>
                <a:cs typeface="Calibri"/>
              </a:rPr>
              <a:t>do different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B087C-3C99-AB3D-BAEA-C938C0766163}"/>
              </a:ext>
            </a:extLst>
          </p:cNvPr>
          <p:cNvSpPr/>
          <p:nvPr/>
        </p:nvSpPr>
        <p:spPr>
          <a:xfrm>
            <a:off x="1013949" y="1577626"/>
            <a:ext cx="2664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 dirty="0">
                <a:ea typeface="Calibri"/>
                <a:cs typeface="Calibri"/>
              </a:rPr>
              <a:t>Teamwork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C1A6E-E3A0-CF75-71B2-F4DD1C8629D6}"/>
              </a:ext>
            </a:extLst>
          </p:cNvPr>
          <p:cNvSpPr txBox="1"/>
          <p:nvPr/>
        </p:nvSpPr>
        <p:spPr>
          <a:xfrm>
            <a:off x="619020" y="2812648"/>
            <a:ext cx="345385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Clear roles: backend, frontend, data, UX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Used GitHub branches + PRs to collaborate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Regular check-ins with mentors and within team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Shared design files so everyone stayed aligned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11AE9-E105-E62F-3E22-BCBA16BB683C}"/>
              </a:ext>
            </a:extLst>
          </p:cNvPr>
          <p:cNvSpPr txBox="1"/>
          <p:nvPr/>
        </p:nvSpPr>
        <p:spPr>
          <a:xfrm>
            <a:off x="4369071" y="2710405"/>
            <a:ext cx="34538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Safety routing is harder than “fastest only”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Users need </a:t>
            </a:r>
            <a:r>
              <a:rPr lang="en-IE" sz="2200" b="1" dirty="0">
                <a:solidFill>
                  <a:schemeClr val="bg1"/>
                </a:solidFill>
              </a:rPr>
              <a:t>clear explanations</a:t>
            </a:r>
            <a:r>
              <a:rPr lang="en-IE" sz="2200" dirty="0">
                <a:solidFill>
                  <a:schemeClr val="bg1"/>
                </a:solidFill>
              </a:rPr>
              <a:t>, not just features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Multiple data sources = performance + complexity issues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GDPR, email verification and location consent are essential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9F616-EE23-4FC8-67DE-6582512267F0}"/>
              </a:ext>
            </a:extLst>
          </p:cNvPr>
          <p:cNvSpPr txBox="1"/>
          <p:nvPr/>
        </p:nvSpPr>
        <p:spPr>
          <a:xfrm>
            <a:off x="8280535" y="2710404"/>
            <a:ext cx="34538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Lock a smaller MVP earlier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Test “risky” features sooner (routing, hazards, buddies)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Run user tests in several short rounds, not just once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E" sz="2200" dirty="0">
                <a:solidFill>
                  <a:schemeClr val="bg1"/>
                </a:solidFill>
              </a:rPr>
              <a:t>Keep better ongoing documentation and task ownership</a:t>
            </a:r>
          </a:p>
        </p:txBody>
      </p:sp>
    </p:spTree>
    <p:extLst>
      <p:ext uri="{BB962C8B-B14F-4D97-AF65-F5344CB8AC3E}">
        <p14:creationId xmlns:p14="http://schemas.microsoft.com/office/powerpoint/2010/main" val="292215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05FB-9457-F4C6-CD1E-30DDCDEB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DF1177CE-0AF1-B5C7-95C8-F2E85DA7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112543" y="12"/>
            <a:ext cx="12192000" cy="685798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6A3B3EE-17B3-B082-16F1-FD96693D8C4A}"/>
              </a:ext>
            </a:extLst>
          </p:cNvPr>
          <p:cNvSpPr/>
          <p:nvPr/>
        </p:nvSpPr>
        <p:spPr>
          <a:xfrm>
            <a:off x="5202595" y="515926"/>
            <a:ext cx="4824766" cy="102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endParaRPr lang="en-US" sz="4800" b="1" dirty="0">
              <a:solidFill>
                <a:srgbClr val="17FFBC"/>
              </a:solidFill>
              <a:ea typeface="Spline Sans Bold"/>
              <a:cs typeface="Spline Sans Bold" pitchFamily="34" charset="-120"/>
            </a:endParaRPr>
          </a:p>
          <a:p>
            <a:pPr marL="0" indent="0" algn="ctr">
              <a:lnSpc>
                <a:spcPts val="2950"/>
              </a:lnSpc>
              <a:buNone/>
            </a:pPr>
            <a:r>
              <a:rPr lang="en-US" sz="4800" b="1" dirty="0">
                <a:solidFill>
                  <a:srgbClr val="17FFBC"/>
                </a:solidFill>
                <a:ea typeface="Spline Sans Bold"/>
                <a:cs typeface="Spline Sans Bold" pitchFamily="34" charset="-120"/>
              </a:rPr>
              <a:t>Demo Agenda</a:t>
            </a:r>
            <a:endParaRPr lang="en-US" sz="4800" dirty="0">
              <a:solidFill>
                <a:srgbClr val="17FFBC"/>
              </a:solidFill>
              <a:ea typeface="Spline Sans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07C56-D064-C1AD-D1BC-5D6B2104F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918" r="5766" b="6996"/>
          <a:stretch>
            <a:fillRect/>
          </a:stretch>
        </p:blipFill>
        <p:spPr>
          <a:xfrm>
            <a:off x="3793442" y="2319408"/>
            <a:ext cx="7643073" cy="3279336"/>
          </a:xfrm>
          <a:prstGeom prst="rect">
            <a:avLst/>
          </a:prstGeom>
        </p:spPr>
      </p:pic>
      <p:pic>
        <p:nvPicPr>
          <p:cNvPr id="6" name="Picture 5" descr="A blue shield with a road and a check mark&#10;&#10;AI-generated content may be incorrect.">
            <a:extLst>
              <a:ext uri="{FF2B5EF4-FFF2-40B4-BE49-F238E27FC236}">
                <a16:creationId xmlns:a16="http://schemas.microsoft.com/office/drawing/2014/main" id="{3F530A34-D3EE-667D-307C-7424010A0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21" y="1745363"/>
            <a:ext cx="2555125" cy="244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6321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1212</Words>
  <Application>Microsoft Macintosh PowerPoint</Application>
  <PresentationFormat>Widescreen</PresentationFormat>
  <Paragraphs>114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Barlow</vt:lpstr>
      <vt:lpstr>Calibri</vt:lpstr>
      <vt:lpstr>Grandview Display</vt:lpstr>
      <vt:lpstr>NOTEWORTHY LIGHT</vt:lpstr>
      <vt:lpstr>Segoe UI</vt:lpstr>
      <vt:lpstr>Spline Sans Bold</vt:lpstr>
      <vt:lpstr>Wingdings</vt:lpstr>
      <vt:lpstr>DashVTI</vt:lpstr>
      <vt:lpstr>SafePath </vt:lpstr>
      <vt:lpstr>Project Vision:  Safer Routes, Not Just Faster Ones </vt:lpstr>
      <vt:lpstr>Project Vision:  Safer Routes, Not Just Faster Ones </vt:lpstr>
      <vt:lpstr>Scenario – Avoiding User Reported Hazards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D24126339 Huda Ibrahim</dc:creator>
  <cp:lastModifiedBy>D24126339 Huda Ibrahim</cp:lastModifiedBy>
  <cp:revision>27</cp:revision>
  <dcterms:created xsi:type="dcterms:W3CDTF">2025-12-09T23:30:15Z</dcterms:created>
  <dcterms:modified xsi:type="dcterms:W3CDTF">2025-12-11T20:40:37Z</dcterms:modified>
</cp:coreProperties>
</file>